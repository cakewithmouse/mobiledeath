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31a73d78754307" /><Relationship Type="http://schemas.openxmlformats.org/officeDocument/2006/relationships/extended-properties" Target="/docProps/app.xml" Id="Red7b5eb5c0f345ef" /><Relationship Type="http://schemas.openxmlformats.org/officeDocument/2006/relationships/officeDocument" Target="/ppt/presentation.xml" Id="Rcf1b58d3c9004a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ccd442a1640da"/>
  </p:sldMasterIdLst>
  <p:notesMasterIdLst>
    <p:notesMasterId xmlns:r="http://schemas.openxmlformats.org/officeDocument/2006/relationships" r:id="R9c21bb5af828485a"/>
  </p:notesMasterIdLst>
  <p:sldIdLst>
    <p:sldId xmlns:r="http://schemas.openxmlformats.org/officeDocument/2006/relationships" id="256" r:id="R8889c158715e4a09"/>
    <p:sldId xmlns:r="http://schemas.openxmlformats.org/officeDocument/2006/relationships" id="257" r:id="R2a00ebecd23a4474"/>
    <p:sldId xmlns:r="http://schemas.openxmlformats.org/officeDocument/2006/relationships" id="258" r:id="Rd8f4849d482f449c"/>
    <p:sldId xmlns:r="http://schemas.openxmlformats.org/officeDocument/2006/relationships" id="259" r:id="Rfd1518ebe9d446b9"/>
    <p:sldId xmlns:r="http://schemas.openxmlformats.org/officeDocument/2006/relationships" id="260" r:id="R3e24b7d9924547bf"/>
    <p:sldId xmlns:r="http://schemas.openxmlformats.org/officeDocument/2006/relationships" id="261" r:id="R65cc8e0b0243483b"/>
    <p:sldId xmlns:r="http://schemas.openxmlformats.org/officeDocument/2006/relationships" id="262" r:id="R74e6dcefe0704608"/>
    <p:sldId xmlns:r="http://schemas.openxmlformats.org/officeDocument/2006/relationships" id="263" r:id="R27a34e45eba54402"/>
    <p:sldId xmlns:r="http://schemas.openxmlformats.org/officeDocument/2006/relationships" id="264" r:id="R306f3d51ca15409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b1c2b32aaa41b0" /><Relationship Type="http://schemas.openxmlformats.org/officeDocument/2006/relationships/slideMaster" Target="/ppt/slideMasters/slideMaster1.xml" Id="Rad1ccd442a1640da" /><Relationship Type="http://schemas.openxmlformats.org/officeDocument/2006/relationships/notesMaster" Target="/ppt/notesMasters/notesMaster1.xml" Id="R9c21bb5af828485a" /><Relationship Type="http://schemas.openxmlformats.org/officeDocument/2006/relationships/presProps" Target="/ppt/presProps.xml" Id="R4d6ed9127af9418a" /><Relationship Type="http://schemas.openxmlformats.org/officeDocument/2006/relationships/viewProps" Target="/ppt/viewProps.xml" Id="R24d99b9d0dcc4b24" /><Relationship Type="http://schemas.openxmlformats.org/officeDocument/2006/relationships/tableStyles" Target="/ppt/tableStyles.xml" Id="R018d7d50fb5946be" /><Relationship Type="http://schemas.openxmlformats.org/officeDocument/2006/relationships/slide" Target="/ppt/slides/slide1.xml" Id="R8889c158715e4a09" /><Relationship Type="http://schemas.openxmlformats.org/officeDocument/2006/relationships/slide" Target="/ppt/slides/slide2.xml" Id="R2a00ebecd23a4474" /><Relationship Type="http://schemas.openxmlformats.org/officeDocument/2006/relationships/slide" Target="/ppt/slides/slide3.xml" Id="Rd8f4849d482f449c" /><Relationship Type="http://schemas.openxmlformats.org/officeDocument/2006/relationships/slide" Target="/ppt/slides/slide4.xml" Id="Rfd1518ebe9d446b9" /><Relationship Type="http://schemas.openxmlformats.org/officeDocument/2006/relationships/slide" Target="/ppt/slides/slide5.xml" Id="R3e24b7d9924547bf" /><Relationship Type="http://schemas.openxmlformats.org/officeDocument/2006/relationships/slide" Target="/ppt/slides/slide6.xml" Id="R65cc8e0b0243483b" /><Relationship Type="http://schemas.openxmlformats.org/officeDocument/2006/relationships/slide" Target="/ppt/slides/slide7.xml" Id="R74e6dcefe0704608" /><Relationship Type="http://schemas.openxmlformats.org/officeDocument/2006/relationships/slide" Target="/ppt/slides/slide8.xml" Id="R27a34e45eba54402" /><Relationship Type="http://schemas.openxmlformats.org/officeDocument/2006/relationships/slide" Target="/ppt/slides/slide9.xml" Id="R306f3d51ca15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f1299986a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ШРВ MS Office шаблон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Arial"/>
        <a:ea typeface=""/>
        <a:cs typeface="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f5eaac360d43df" /><Relationship Type="http://schemas.openxmlformats.org/officeDocument/2006/relationships/notesMaster" Target="/ppt/notesMasters/notesMaster1.xml" Id="Ra49d96be1c8f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b8f809c7744b1f" /><Relationship Type="http://schemas.openxmlformats.org/officeDocument/2006/relationships/notesMaster" Target="/ppt/notesMasters/notesMaster1.xml" Id="R671691c8eaaf44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47029059bf4d8b" /><Relationship Type="http://schemas.openxmlformats.org/officeDocument/2006/relationships/notesMaster" Target="/ppt/notesMasters/notesMaster1.xml" Id="R29282a14bf3941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b7c3cbad74bb5" /><Relationship Type="http://schemas.openxmlformats.org/officeDocument/2006/relationships/notesMaster" Target="/ppt/notesMasters/notesMaster1.xml" Id="Rc37b2098c9304a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9d8c30dd7440e" /><Relationship Type="http://schemas.openxmlformats.org/officeDocument/2006/relationships/notesMaster" Target="/ppt/notesMasters/notesMaster1.xml" Id="R4c0fc93e6b49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8a5edc50734a5d" /><Relationship Type="http://schemas.openxmlformats.org/officeDocument/2006/relationships/notesMaster" Target="/ppt/notesMasters/notesMaster1.xml" Id="Rd32fc3be3454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82126fd1441f6" /><Relationship Type="http://schemas.openxmlformats.org/officeDocument/2006/relationships/notesMaster" Target="/ppt/notesMasters/notesMaster1.xml" Id="R5a4b5c6c091d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12004bc611414e" /><Relationship Type="http://schemas.openxmlformats.org/officeDocument/2006/relationships/notesMaster" Target="/ppt/notesMasters/notesMaster1.xml" Id="R6dbb3162042641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a9046458342c0" /><Relationship Type="http://schemas.openxmlformats.org/officeDocument/2006/relationships/notesMaster" Target="/ppt/notesMasters/notesMaster1.xml" Id="R42cf90a4fa2d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 «Блинопёк». Команда Here We Go Again. Содержание и принадлежность к Школе разработки видеоигр ИТМО сохранены из исходной презентации. Иллюстрация фасада создана в текущем чате и используется как художественный концепт игры, не фотография. Фон презентации создан во встроенном imagegen по утверждённой стилистике.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Имена, роли и все пять портретов сохранены из исходного файла пользователя. Порядок показан слева направо. РП, ПМ — обозначения из исходной презентации.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 просьбе пользователя слайд оставлен для заполнения. Поля для сервиса, ссылки и назначения являются редактируемыми местами, а не утверждённым выбором инструментов.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 просьбе пользователя план разработки оставлен для заполнения. Сроки и этапы не придуманы. Таблица PowerPoint редактируется по ячейкам; пустые строки можно заполнять или добавлять.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Описание и изображение взяты из исходной презентации пользователя. Текст слегка разбит на абзацы для удобства чтения без изменения смысла. Иллюстрация является художественным концептом.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Оба визуальных референса и изображение Good Pizza, Great Pizza сохранены из исходной презентации. Исходная ссылка на Steam: https://store.steampowered.com/app/770810/_/. Внешние сведения об игре не добавлялись.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Все шесть действий основного игрового цикла сохранены из исходного файла. Каждый пункт остаётся редактируемым текстом. Иллюстрация — концепт игрового экрана.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Содержание о развитии блинной сохранено из исходного файла пользователя. Исходник не содержит конкретной схемы доната; новые условия монетизации не добавлялись.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Заключительный слайд. Все надписи остаются редактируемыми.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757bfb5214ab9" /></Relationships>
</file>

<file path=ppt/slideLayouts/slideLayout1.xml><?xml version="1.0" encoding="utf-8"?>
<p:sldLayout xmlns:p="http://schemas.openxmlformats.org/presentationml/2006/main">
  <p:cSld name="Блинопёк / свободная композици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d3e42d43c4076" /><Relationship Type="http://schemas.openxmlformats.org/officeDocument/2006/relationships/slideLayout" Target="/ppt/slideLayouts/slideLayout1.xml" Id="R104fc5adfce043ae" /></Relationships>
</file>

<file path=ppt/slideMasters/slideMaster1.xml><?xml version="1.0" encoding="utf-8"?>
<p:sldMaster xmlns:p="http://schemas.openxmlformats.org/presentationml/2006/main">
  <p:cSld name="Блинопёк / живописная тема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4fc5adfce043ae"/>
  </p:sldLayoutIdLst>
</p:sldMaster>
</file>

<file path=ppt/slideMasters/theme/theme2.xml><?xml version="1.0" encoding="utf-8"?>
<a:theme xmlns:a="http://schemas.openxmlformats.org/drawingml/2006/main" name="ШРВ MS Office шаблон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Arial"/>
        <a:ea typeface=""/>
        <a:cs typeface="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bb8ba3dfc4d55" /><Relationship Type="http://schemas.openxmlformats.org/officeDocument/2006/relationships/image" Target="/ppt/media/image.png" Id="Rc832bf809b234de8" /><Relationship Type="http://schemas.openxmlformats.org/officeDocument/2006/relationships/image" Target="/ppt/media/image2.png" Id="R96e2286b8765460b" /><Relationship Type="http://schemas.openxmlformats.org/officeDocument/2006/relationships/image" Target="/ppt/media/image.jpeg" Id="Red8a292dc43744fa" /><Relationship Type="http://schemas.openxmlformats.org/officeDocument/2006/relationships/notesSlide" Target="/ppt/notesSlides/notesSlide1.xml" Id="Ra9bd659743dd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01f1f69ff4538" /><Relationship Type="http://schemas.openxmlformats.org/officeDocument/2006/relationships/image" Target="/ppt/media/image3.png" Id="R83f488cf50ff4e85" /><Relationship Type="http://schemas.openxmlformats.org/officeDocument/2006/relationships/image" Target="/ppt/media/image2.jpeg" Id="R67bea3bb981145b1" /><Relationship Type="http://schemas.openxmlformats.org/officeDocument/2006/relationships/image" Target="/ppt/media/image3.jpeg" Id="Re1ce704c895642bd" /><Relationship Type="http://schemas.openxmlformats.org/officeDocument/2006/relationships/image" Target="/ppt/media/image4.png" Id="R3925523d1f924ae7" /><Relationship Type="http://schemas.openxmlformats.org/officeDocument/2006/relationships/image" Target="/ppt/media/image4.jpeg" Id="R8eefcf74f272458b" /><Relationship Type="http://schemas.openxmlformats.org/officeDocument/2006/relationships/notesSlide" Target="/ppt/notesSlides/notesSlide2.xml" Id="R0ada3a2cf430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7b60f5e174216" /><Relationship Type="http://schemas.openxmlformats.org/officeDocument/2006/relationships/image" Target="/ppt/media/image5.png" Id="R1b3070c67a0b42af" /><Relationship Type="http://schemas.openxmlformats.org/officeDocument/2006/relationships/notesSlide" Target="/ppt/notesSlides/notesSlide3.xml" Id="Rd17a9a4b4ddf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341a7f7a84d1e" /><Relationship Type="http://schemas.openxmlformats.org/officeDocument/2006/relationships/image" Target="/ppt/media/image6.png" Id="Rc5e7c0b2128c4407" /><Relationship Type="http://schemas.openxmlformats.org/officeDocument/2006/relationships/notesSlide" Target="/ppt/notesSlides/notesSlide4.xml" Id="Ra7112781a56648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5305a5dad44cf" /><Relationship Type="http://schemas.openxmlformats.org/officeDocument/2006/relationships/image" Target="/ppt/media/image7.png" Id="R7f4650350f16409f" /><Relationship Type="http://schemas.openxmlformats.org/officeDocument/2006/relationships/image" Target="/ppt/media/image8.png" Id="Re9b73ff504d04698" /><Relationship Type="http://schemas.openxmlformats.org/officeDocument/2006/relationships/notesSlide" Target="/ppt/notesSlides/notesSlide5.xml" Id="Ra93354e1284a4f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8c828029f4195" /><Relationship Type="http://schemas.openxmlformats.org/officeDocument/2006/relationships/image" Target="/ppt/media/image9.png" Id="R52d1b9138d1b4973" /><Relationship Type="http://schemas.openxmlformats.org/officeDocument/2006/relationships/hyperlink" Target="https://store.steampowered.com/app/770810/_/" TargetMode="External" Id="R9a6cc5df482b41bd" /><Relationship Type="http://schemas.openxmlformats.org/officeDocument/2006/relationships/image" Target="/ppt/media/image10.png" Id="Re70619d3066d48ee" /><Relationship Type="http://schemas.openxmlformats.org/officeDocument/2006/relationships/image" Target="/ppt/media/image11.png" Id="R65f997a2cd574c9f" /><Relationship Type="http://schemas.openxmlformats.org/officeDocument/2006/relationships/image" Target="/ppt/media/image12.png" Id="R5af0064292984c44" /><Relationship Type="http://schemas.openxmlformats.org/officeDocument/2006/relationships/notesSlide" Target="/ppt/notesSlides/notesSlide6.xml" Id="R6f715e714762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9fe9d7ca4bab" /><Relationship Type="http://schemas.openxmlformats.org/officeDocument/2006/relationships/image" Target="/ppt/media/image13.png" Id="R82f7fc68215b4ea3" /><Relationship Type="http://schemas.openxmlformats.org/officeDocument/2006/relationships/image" Target="/ppt/media/image14.png" Id="Rb1fec648d6dc4ac6" /><Relationship Type="http://schemas.openxmlformats.org/officeDocument/2006/relationships/notesSlide" Target="/ppt/notesSlides/notesSlide7.xml" Id="Rad61e2621ee84e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5c9f8c8434a77" /><Relationship Type="http://schemas.openxmlformats.org/officeDocument/2006/relationships/image" Target="/ppt/media/image15.png" Id="R42e40f91d9674d01" /><Relationship Type="http://schemas.openxmlformats.org/officeDocument/2006/relationships/image" Target="/ppt/media/image16.png" Id="R31b902654adc4172" /><Relationship Type="http://schemas.openxmlformats.org/officeDocument/2006/relationships/notesSlide" Target="/ppt/notesSlides/notesSlide8.xml" Id="R8cf3af8feabc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6b84050f34af0" /><Relationship Type="http://schemas.openxmlformats.org/officeDocument/2006/relationships/image" Target="/ppt/media/image17.png" Id="R8f0ac244892f43b6" /><Relationship Type="http://schemas.openxmlformats.org/officeDocument/2006/relationships/notesSlide" Target="/ppt/notesSlides/notesSlide9.xml" Id="R6dff05ce5d76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2bf809b234d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4D1EB267-CE84-4E6F-92F2-7196CA94A88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819275"/>
            <a:ext cx="3276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4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44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Блинопёк</a:t>
            </a:r>
            <a:endParaRPr sz="1800"/>
          </a:p>
        </p:txBody>
      </p:sp>
      <p:sp>
        <p:nvSpPr>
          <p:cNvPr id="124" name="Google Shape;124;p16">
            <a:extLst xmlns:a="http://schemas.openxmlformats.org/drawingml/2006/main">
              <a:ext uri="{FF2B5EF4-FFF2-40B4-BE49-F238E27FC236}">
                <a16:creationId xmlns:a16="http://schemas.microsoft.com/office/drawing/2014/main" id="{849E4E03-8066-457F-BA78-1014E381CC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286702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Команда: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Here We Go Again</a:t>
            </a:r>
            <a:endParaRPr/>
          </a:p>
        </p:txBody>
      </p:sp>
      <p:sp>
        <p:nvSpPr>
          <p:cNvPr id="126" name="Описание на обложке">
            <a:extLst xmlns:a="http://schemas.openxmlformats.org/drawingml/2006/main">
              <a:ext uri="{FF2B5EF4-FFF2-40B4-BE49-F238E27FC236}">
                <a16:creationId xmlns:a16="http://schemas.microsoft.com/office/drawing/2014/main" id="{51F42F31-81D7-42A5-87B8-239DD550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14475"/>
            <a:ext cx="3114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Уютная мобильная игра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752310A-BB8D-4A57-A2C1-4458E2BC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044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2286b8765460b"/>
          <a:stretch xmlns:a="http://schemas.openxmlformats.org/drawingml/2006/main"/>
        </p:blipFill>
        <p:spPr>
          <a:xfrm xmlns:a="http://schemas.openxmlformats.org/drawingml/2006/main">
            <a:off x="3793308" y="1114425"/>
            <a:ext cx="4891133" cy="2752725"/>
          </a:xfrm>
          <a:prstGeom xmlns:a="http://schemas.openxmlformats.org/drawingml/2006/main" prst="rect">
            <a:avLst/>
          </a:prstGeom>
        </p:spPr>
      </p:pic>
      <p:sp>
        <p:nvSpPr>
          <p:cNvPr id="129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AABF8223-511A-4260-BC7C-2CC594B3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085850"/>
            <a:ext cx="4953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a292dc43744fa"/>
          <a:srcRect xmlns:a="http://schemas.openxmlformats.org/drawingml/2006/main" l="5833" t="6759" r="72031" b="8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09575"/>
            <a:ext cx="1752600" cy="59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75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488cf50ff4e8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160" name="Google Shape;129;p17"/>
          <p:cNvPicPr>
            <a:picLocks xmlns:a="http://schemas.openxmlformats.org/drawingml/2006/main" noChangeAspect="1"/>
          </p:cNvPicPr>
          <p:nvPr>
            <p:ph type="pic" idx="7"/>
          </p:nvPr>
        </p:nvPicPr>
        <p:blipFill rotWithShape="1">
          <a:blip xmlns:r="http://schemas.openxmlformats.org/officeDocument/2006/relationships" xmlns:a="http://schemas.openxmlformats.org/drawingml/2006/main" r:embed="R67bea3bb981145b1">
            <a:alphaModFix/>
          </a:blip>
          <a:srcRect xmlns:a="http://schemas.openxmlformats.org/drawingml/2006/main" l="1200" t="0" r="1210" b="0"/>
          <a:stretch xmlns:a="http://schemas.openxmlformats.org/drawingml/2006/main"/>
        </p:blipFill>
        <p:spPr>
          <a:xfrm xmlns:a="http://schemas.openxmlformats.org/drawingml/2006/main">
            <a:off x="2324100" y="1695450"/>
            <a:ext cx="1219200" cy="1219200"/>
          </a:xfrm>
          <a:prstGeom xmlns:a="http://schemas.openxmlformats.org/drawingml/2006/main" prst="ellipse">
            <a:avLst/>
          </a:prstGeom>
        </p:spPr>
      </p:pic>
      <p:sp>
        <p:nvSpPr>
          <p:cNvPr id="130" name="Google Shape;130;p17">
            <a:extLst xmlns:a="http://schemas.openxmlformats.org/drawingml/2006/main">
              <a:ext uri="{FF2B5EF4-FFF2-40B4-BE49-F238E27FC236}">
                <a16:creationId xmlns:a16="http://schemas.microsoft.com/office/drawing/2014/main" id="{469D0FCD-A64F-41E9-B356-CD87B6450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Состав команды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17">
            <a:extLst xmlns:a="http://schemas.openxmlformats.org/drawingml/2006/main">
              <a:ext uri="{FF2B5EF4-FFF2-40B4-BE49-F238E27FC236}">
                <a16:creationId xmlns:a16="http://schemas.microsoft.com/office/drawing/2014/main" id="{8DCE21A2-3379-4C3D-9C6B-C18C56727C9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133600" y="3143250"/>
            <a:ext cx="1581150" cy="5238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Прокуденко</a:t>
            </a:r>
            <a:endParaRPr sz="1161"/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Кирилл</a:t>
            </a:r>
            <a:endParaRPr sz="1161"/>
          </a:p>
        </p:txBody>
      </p:sp>
      <p:sp>
        <p:nvSpPr>
          <p:cNvPr id="132" name="Google Shape;132;p17">
            <a:extLst xmlns:a="http://schemas.openxmlformats.org/drawingml/2006/main">
              <a:ext uri="{FF2B5EF4-FFF2-40B4-BE49-F238E27FC236}">
                <a16:creationId xmlns:a16="http://schemas.microsoft.com/office/drawing/2014/main" id="{CFAB70B5-95AE-433B-9F1D-9DE8B3901C4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133600" y="378142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Разработчик 2</a:t>
            </a:r>
            <a:endParaRPr sz="1032" b="1"/>
          </a:p>
        </p:txBody>
      </p:sp>
      <p:pic>
        <p:nvPicPr>
          <p:cNvPr id="164" name="Google Shape;133;p17"/>
          <p:cNvPicPr>
            <a:picLocks xmlns:a="http://schemas.openxmlformats.org/drawingml/2006/main" noChangeAspect="1"/>
          </p:cNvPicPr>
          <p:nvPr>
            <p:ph type="pic" idx="7"/>
          </p:nvPr>
        </p:nvPicPr>
        <p:blipFill rotWithShape="1">
          <a:blip xmlns:r="http://schemas.openxmlformats.org/officeDocument/2006/relationships" xmlns:a="http://schemas.openxmlformats.org/drawingml/2006/main" r:embed="Re1ce704c895642bd">
            <a:alphaModFix/>
          </a:blip>
          <a:srcRect xmlns:a="http://schemas.openxmlformats.org/drawingml/2006/main" l="1803" t="0" r="1793" b="0"/>
          <a:stretch xmlns:a="http://schemas.openxmlformats.org/drawingml/2006/main"/>
        </p:blipFill>
        <p:spPr>
          <a:xfrm xmlns:a="http://schemas.openxmlformats.org/drawingml/2006/main">
            <a:off x="4000500" y="1695450"/>
            <a:ext cx="1219200" cy="1219200"/>
          </a:xfrm>
          <a:prstGeom xmlns:a="http://schemas.openxmlformats.org/drawingml/2006/main" prst="ellipse">
            <a:avLst/>
          </a:prstGeom>
        </p:spPr>
      </p:pic>
      <p:pic>
        <p:nvPicPr>
          <p:cNvPr id="165" name="Google Shape;134;p17"/>
          <p:cNvPicPr>
            <a:picLocks xmlns:a="http://schemas.openxmlformats.org/drawingml/2006/main" noChangeAspect="1"/>
          </p:cNvPicPr>
          <p:nvPr>
            <p:ph type="pic" idx="8"/>
          </p:nvPr>
        </p:nvPicPr>
        <p:blipFill rotWithShape="1">
          <a:blip xmlns:r="http://schemas.openxmlformats.org/officeDocument/2006/relationships" xmlns:a="http://schemas.openxmlformats.org/drawingml/2006/main" r:embed="R3925523d1f924ae7">
            <a:alphaModFix/>
          </a:blip>
          <a:srcRect xmlns:a="http://schemas.openxmlformats.org/drawingml/2006/main" l="4971" t="0" r="4971" b="0"/>
          <a:stretch xmlns:a="http://schemas.openxmlformats.org/drawingml/2006/main"/>
        </p:blipFill>
        <p:spPr>
          <a:xfrm xmlns:a="http://schemas.openxmlformats.org/drawingml/2006/main">
            <a:off x="647700" y="1695450"/>
            <a:ext cx="1219200" cy="1219200"/>
          </a:xfrm>
          <a:prstGeom xmlns:a="http://schemas.openxmlformats.org/drawingml/2006/main" prst="ellipse">
            <a:avLst/>
          </a:prstGeom>
        </p:spPr>
      </p:pic>
      <p:pic>
        <p:nvPicPr>
          <p:cNvPr id="166" name="Google Shape;135;p17"/>
          <p:cNvPicPr>
            <a:picLocks xmlns:a="http://schemas.openxmlformats.org/drawingml/2006/main" noChangeAspect="1"/>
          </p:cNvPicPr>
          <p:nvPr>
            <p:ph type="pic" idx="9"/>
          </p:nvPr>
        </p:nvPicPr>
        <p:blipFill rotWithShape="1">
          <a:blip xmlns:r="http://schemas.openxmlformats.org/officeDocument/2006/relationships" xmlns:a="http://schemas.openxmlformats.org/drawingml/2006/main" r:embed="R8eefcf74f272458b">
            <a:alphaModFix/>
          </a:blip>
          <a:srcRect xmlns:a="http://schemas.openxmlformats.org/drawingml/2006/main" l="952" t="0" r="942" b="0"/>
          <a:stretch xmlns:a="http://schemas.openxmlformats.org/drawingml/2006/main"/>
        </p:blipFill>
        <p:spPr>
          <a:xfrm xmlns:a="http://schemas.openxmlformats.org/drawingml/2006/main">
            <a:off x="5676900" y="1695450"/>
            <a:ext cx="1219200" cy="1219200"/>
          </a:xfrm>
          <a:prstGeom xmlns:a="http://schemas.openxmlformats.org/drawingml/2006/main" prst="ellipse">
            <a:avLst/>
          </a:prstGeom>
        </p:spPr>
      </p:pic>
      <p:sp>
        <p:nv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BD89DFC5-82A3-4B19-958F-FB37C7284F8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3810000" y="3143250"/>
            <a:ext cx="1581150" cy="5238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Вашпанов</a:t>
            </a:r>
            <a:endParaRPr sz="1161"/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Александр</a:t>
            </a:r>
            <a:endParaRPr sz="1161"/>
          </a:p>
        </p:txBody>
      </p:sp>
      <p:sp>
        <p:nvSpPr>
          <p:cNvPr id="137" name="Google Shape;137;p17">
            <a:extLst xmlns:a="http://schemas.openxmlformats.org/drawingml/2006/main">
              <a:ext uri="{FF2B5EF4-FFF2-40B4-BE49-F238E27FC236}">
                <a16:creationId xmlns:a16="http://schemas.microsoft.com/office/drawing/2014/main" id="{DE918BB7-B5D2-46C0-B7AA-5881732C69C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810000" y="378142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Разработчик 3</a:t>
            </a:r>
            <a:endParaRPr sz="1032" b="1"/>
          </a:p>
        </p:txBody>
      </p:sp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5A3639F1-CB3E-468E-BCD3-D96263CF47A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457200" y="3143250"/>
            <a:ext cx="1581150" cy="5238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Ищенко</a:t>
            </a:r>
            <a:endParaRPr sz="1161"/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Дарья</a:t>
            </a:r>
            <a:endParaRPr sz="1161"/>
          </a:p>
        </p:txBody>
      </p:sp>
      <p:sp>
        <p:nv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48CEFB7E-D487-4F14-B201-A35FDD86BF4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57200" y="378142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Разработчик 1</a:t>
            </a:r>
            <a:endParaRPr sz="1032" b="1"/>
          </a:p>
        </p:txBody>
      </p:sp>
      <p:sp>
        <p:nvSpPr>
          <p:cNvPr id="140" name="Google Shape;140;p17">
            <a:extLst xmlns:a="http://schemas.openxmlformats.org/drawingml/2006/main">
              <a:ext uri="{FF2B5EF4-FFF2-40B4-BE49-F238E27FC236}">
                <a16:creationId xmlns:a16="http://schemas.microsoft.com/office/drawing/2014/main" id="{DB8F7A97-8DFD-4A66-B286-970511BCBB1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486400" y="3143250"/>
            <a:ext cx="1581150" cy="5238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Мельниченко</a:t>
            </a:r>
            <a:endParaRPr sz="1161"/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Дмитрий</a:t>
            </a:r>
            <a:endParaRPr sz="1161"/>
          </a:p>
        </p:txBody>
      </p:sp>
      <p:sp>
        <p:nvSpPr>
          <p:cNvPr id="141" name="Google Shape;141;p17">
            <a:extLst xmlns:a="http://schemas.openxmlformats.org/drawingml/2006/main">
              <a:ext uri="{FF2B5EF4-FFF2-40B4-BE49-F238E27FC236}">
                <a16:creationId xmlns:a16="http://schemas.microsoft.com/office/drawing/2014/main" id="{7EA081DE-2B4B-4D19-9161-9E23BAF151F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486400" y="378142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Разработчик</a:t>
            </a:r>
            <a:endParaRPr sz="1032" b="1"/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РП, ПМ</a:t>
            </a:r>
            <a:endParaRPr sz="1032" b="1"/>
          </a:p>
        </p:txBody>
      </p:sp>
      <p:sp>
        <p:nvSpPr>
          <p:cNvPr id="142" name="Google Shape;142;p17">
            <a:extLst xmlns:a="http://schemas.openxmlformats.org/drawingml/2006/main">
              <a:ext uri="{FF2B5EF4-FFF2-40B4-BE49-F238E27FC236}">
                <a16:creationId xmlns:a16="http://schemas.microsoft.com/office/drawing/2014/main" id="{1CD6CAE6-A285-41AD-8D41-C991C4FF8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CBAEABBA-AD62-52D1-5588-17C604158753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02</a:t>
            </a:fld>
            <a:endParaRPr/>
          </a:p>
        </p:txBody>
      </p:sp>
      <p:pic>
        <p:nvPicPr>
          <p:cNvPr id="174" name="Google Shape;143;p17"/>
          <p:cNvPicPr>
            <a:picLocks xmlns:a="http://schemas.openxmlformats.org/drawingml/2006/main" noChangeAspect="1"/>
          </p:cNvPicPr>
          <p:nvPr>
            <p:ph type="pic" idx="7"/>
          </p:nvPr>
        </p:nvPicPr>
        <p:blipFill rotWithShape="1">
          <a:blip xmlns:r="http://schemas.openxmlformats.org/officeDocument/2006/relationships" xmlns:a="http://schemas.openxmlformats.org/drawingml/2006/main" r:embed="Re1ce704c895642bd">
            <a:alphaModFix/>
          </a:blip>
          <a:srcRect xmlns:a="http://schemas.openxmlformats.org/drawingml/2006/main" l="1803" t="0" r="1793" b="0"/>
          <a:stretch xmlns:a="http://schemas.openxmlformats.org/drawingml/2006/main"/>
        </p:blipFill>
        <p:spPr>
          <a:xfrm xmlns:a="http://schemas.openxmlformats.org/drawingml/2006/main">
            <a:off x="7353300" y="1695450"/>
            <a:ext cx="1219200" cy="1219200"/>
          </a:xfrm>
          <a:prstGeom xmlns:a="http://schemas.openxmlformats.org/drawingml/2006/main" prst="ellipse">
            <a:avLst/>
          </a:prstGeom>
        </p:spPr>
      </p:pic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6859488F-75AF-417D-BE87-6FBC5A8C0C7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62800" y="3143250"/>
            <a:ext cx="1581150" cy="5238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Иван</a:t>
            </a:r>
            <a:endParaRPr sz="1161"/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Голощапов</a:t>
            </a:r>
            <a:endParaRPr sz="1161"/>
          </a:p>
        </p:txBody>
      </p:sp>
      <p:sp>
        <p:nvSpPr>
          <p:cNvPr id="145" name="Google Shape;145;p17">
            <a:extLst xmlns:a="http://schemas.openxmlformats.org/drawingml/2006/main">
              <a:ext uri="{FF2B5EF4-FFF2-40B4-BE49-F238E27FC236}">
                <a16:creationId xmlns:a16="http://schemas.microsoft.com/office/drawing/2014/main" id="{D22EC337-6CB0-4C6F-AE52-E99029287D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162800" y="378142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Разработчик 4</a:t>
            </a:r>
            <a:endParaRPr sz="1032" b="1"/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94CA970-B00D-4507-B026-6CD0AD5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sp>
        <p:nvSpPr>
          <p:cNvPr id="153" name="Название команды">
            <a:extLst xmlns:a="http://schemas.openxmlformats.org/drawingml/2006/main">
              <a:ext uri="{FF2B5EF4-FFF2-40B4-BE49-F238E27FC236}">
                <a16:creationId xmlns:a16="http://schemas.microsoft.com/office/drawing/2014/main" id="{8E4F76DF-EE70-4F60-913D-0BA392A6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Here We Go Again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EA133F4-0122-4B9C-99A2-213A0F6E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257300" cy="1257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26950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663D100-0217-4092-851F-9927934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76400"/>
            <a:ext cx="1257300" cy="1257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26950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6686E02-4297-44C3-AF7F-D438C1F2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257300" cy="1257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26950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32E4ACF-7712-48B3-8A84-30B0AD53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76400"/>
            <a:ext cx="1257300" cy="1257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26950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CD9DF14-D0D9-432C-AA2B-E22D384D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1257300" cy="1257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26950"/>
            </a:solidFill>
          </a:ln>
        </p:spPr>
      </p:sp>
    </p:spTree>
    <p:extLst>
      <p:ext uri="{BB962C8B-B14F-4D97-AF65-F5344CB8AC3E}">
        <p14:creationId xmlns:p14="http://schemas.microsoft.com/office/powerpoint/2010/main" val="1988381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070c67a0b42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50" name="Google Shape;150;p18">
            <a:extLst xmlns:a="http://schemas.openxmlformats.org/drawingml/2006/main">
              <a:ext uri="{FF2B5EF4-FFF2-40B4-BE49-F238E27FC236}">
                <a16:creationId xmlns:a16="http://schemas.microsoft.com/office/drawing/2014/main" id="{149A0B4B-E053-4867-AF63-78182A259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28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Задачи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107DB08B-03FC-4111-ACE0-476C2E034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0BADEEDC-EEE1-8597-0639-A35D9BA153EC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03</a:t>
            </a:fld>
            <a:endParaRPr/>
          </a:p>
        </p:txBody>
      </p:sp>
      <p:sp>
        <p:nvSpPr>
          <p:cNvPr id="152" name="Google Shape;152;p18">
            <a:extLst xmlns:a="http://schemas.openxmlformats.org/drawingml/2006/main">
              <a:ext uri="{FF2B5EF4-FFF2-40B4-BE49-F238E27FC236}">
                <a16:creationId xmlns:a16="http://schemas.microsoft.com/office/drawing/2014/main" id="{748C1E58-CD30-4A63-8946-7C22536BA3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Рабочие пространства</a:t>
            </a:r>
            <a:endParaRPr sz="1700"/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3C61C3D-15B7-44AD-845F-6B96B8B8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sp>
        <p:nvSpPr>
          <p:cNvPr id="155" name="Репозиторий">
            <a:extLst xmlns:a="http://schemas.openxmlformats.org/drawingml/2006/main">
              <a:ext uri="{FF2B5EF4-FFF2-40B4-BE49-F238E27FC236}">
                <a16:creationId xmlns:a16="http://schemas.microsoft.com/office/drawing/2014/main" id="{61AE477B-B139-40FA-B713-D7EBA23C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Репозиторий</a:t>
            </a:r>
          </a:p>
        </p:txBody>
      </p:sp>
      <p:sp>
        <p:nvSpPr>
          <p:cNvPr id="156" name="Документация">
            <a:extLst xmlns:a="http://schemas.openxmlformats.org/drawingml/2006/main">
              <a:ext uri="{FF2B5EF4-FFF2-40B4-BE49-F238E27FC236}">
                <a16:creationId xmlns:a16="http://schemas.microsoft.com/office/drawing/2014/main" id="{14DBDA4C-A4CA-46CF-8369-3D219C8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Документация</a:t>
            </a:r>
          </a:p>
        </p:txBody>
      </p:sp>
      <p:sp>
        <p:nvSpPr>
          <p:cNvPr id="157" name="Название сервиса 0">
            <a:extLst xmlns:a="http://schemas.openxmlformats.org/drawingml/2006/main">
              <a:ext uri="{FF2B5EF4-FFF2-40B4-BE49-F238E27FC236}">
                <a16:creationId xmlns:a16="http://schemas.microsoft.com/office/drawing/2014/main" id="{5F746F45-4A01-40BC-8416-6101151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Название сервиса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7385D81-EB2E-475E-A697-B51C40F4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59" name="Ссылка 0">
            <a:extLst xmlns:a="http://schemas.openxmlformats.org/drawingml/2006/main">
              <a:ext uri="{FF2B5EF4-FFF2-40B4-BE49-F238E27FC236}">
                <a16:creationId xmlns:a16="http://schemas.microsoft.com/office/drawing/2014/main" id="{6B40B189-7945-4E1B-B46B-4B31F5C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Добавить ссылку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FF4BB2B-398B-489A-A5EB-46EBDDFF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61" name="Назначение 0">
            <a:extLst xmlns:a="http://schemas.openxmlformats.org/drawingml/2006/main">
              <a:ext uri="{FF2B5EF4-FFF2-40B4-BE49-F238E27FC236}">
                <a16:creationId xmlns:a16="http://schemas.microsoft.com/office/drawing/2014/main" id="{CDAE3104-0F93-40FD-BDE0-7A67068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Как используем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C7A717B-CA92-4420-90B6-F5430178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63" name="Название сервиса 1">
            <a:extLst xmlns:a="http://schemas.openxmlformats.org/drawingml/2006/main">
              <a:ext uri="{FF2B5EF4-FFF2-40B4-BE49-F238E27FC236}">
                <a16:creationId xmlns:a16="http://schemas.microsoft.com/office/drawing/2014/main" id="{ABB174EF-685D-4C5E-872D-B3AE746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19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Название сервиса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DD96063-946C-497A-84CC-0128A78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65" name="Ссылка 1">
            <a:extLst xmlns:a="http://schemas.openxmlformats.org/drawingml/2006/main">
              <a:ext uri="{FF2B5EF4-FFF2-40B4-BE49-F238E27FC236}">
                <a16:creationId xmlns:a16="http://schemas.microsoft.com/office/drawing/2014/main" id="{CE287C50-8AFD-43B3-858A-D848413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Добавить ссылку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78C6A8C-0717-4970-AE27-35014FE7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67" name="Назначение 1">
            <a:extLst xmlns:a="http://schemas.openxmlformats.org/drawingml/2006/main">
              <a:ext uri="{FF2B5EF4-FFF2-40B4-BE49-F238E27FC236}">
                <a16:creationId xmlns:a16="http://schemas.microsoft.com/office/drawing/2014/main" id="{75FA50B5-AAB2-4C1B-904F-44620304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147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Как используем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3C55064-7B47-4C1C-92E0-3C04C54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69" name="Название сервиса 2">
            <a:extLst xmlns:a="http://schemas.openxmlformats.org/drawingml/2006/main">
              <a:ext uri="{FF2B5EF4-FFF2-40B4-BE49-F238E27FC236}">
                <a16:creationId xmlns:a16="http://schemas.microsoft.com/office/drawing/2014/main" id="{5921016A-F4B4-48E4-9D6F-6CD04920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Название сервиса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7EBCA68-4FF5-4727-9D3B-7600654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71" name="Ссылка 2">
            <a:extLst xmlns:a="http://schemas.openxmlformats.org/drawingml/2006/main">
              <a:ext uri="{FF2B5EF4-FFF2-40B4-BE49-F238E27FC236}">
                <a16:creationId xmlns:a16="http://schemas.microsoft.com/office/drawing/2014/main" id="{8E385975-5899-46A5-9DDB-7DB34BAD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Добавить ссылку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EE4F1BA-3258-4144-A8EC-6CBFB5A9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  <p:sp>
        <p:nvSpPr>
          <p:cNvPr id="173" name="Назначение 2">
            <a:extLst xmlns:a="http://schemas.openxmlformats.org/drawingml/2006/main">
              <a:ext uri="{FF2B5EF4-FFF2-40B4-BE49-F238E27FC236}">
                <a16:creationId xmlns:a16="http://schemas.microsoft.com/office/drawing/2014/main" id="{4C8CA8F8-6C1F-49AC-8F1F-0574AEC4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A786A"/>
                </a:solidFill>
                <a:latin typeface="Georgia"/>
                <a:ea typeface="Georgia"/>
                <a:cs typeface="Georgia"/>
              </a:rPr>
              <a:t>Как используем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7564B77-875E-4188-A3E3-4EF94CBA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C9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4432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7c0b2128c44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57" name="Google Shape;157;p19">
            <a:extLst xmlns:a="http://schemas.openxmlformats.org/drawingml/2006/main">
              <a:ext uri="{FF2B5EF4-FFF2-40B4-BE49-F238E27FC236}">
                <a16:creationId xmlns:a16="http://schemas.microsoft.com/office/drawing/2014/main" id="{E3EABB95-C7FA-4517-B773-D66668BCA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239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План разработки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8" name="Google Shape;158;p19">
            <a:extLst xmlns:a="http://schemas.openxmlformats.org/drawingml/2006/main">
              <a:ext uri="{FF2B5EF4-FFF2-40B4-BE49-F238E27FC236}">
                <a16:creationId xmlns:a16="http://schemas.microsoft.com/office/drawing/2014/main" id="{56915754-7C9D-43AC-8CC4-DF156EEC7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F9970F6C-59B2-055B-5132-2DC31A7003A7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04</a:t>
            </a:fld>
            <a:endParaRPr/>
          </a:p>
        </p:txBody>
      </p:sp>
      <p:sp>
        <p:nvSpPr>
          <p:cNvPr id="159" name="Google Shape;159;p19">
            <a:extLst xmlns:a="http://schemas.openxmlformats.org/drawingml/2006/main">
              <a:ext uri="{FF2B5EF4-FFF2-40B4-BE49-F238E27FC236}">
                <a16:creationId xmlns:a16="http://schemas.microsoft.com/office/drawing/2014/main" id="{2E111E99-4981-40D5-95FE-E85038746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Тайм-менеджмент</a:t>
            </a:r>
            <a:endParaRPr sz="1700"/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7B0413E-A625-47F1-A14A-E8E3780B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graphicFrame>
        <p:nvGraphicFramePr>
          <p:cNvPr id="168" name=""/>
          <p:cNvGraphicFramePr/>
          <p:nvPr/>
        </p:nvGraphicFramePr>
        <p:xfrm>
          <a:off xmlns:a="http://schemas.openxmlformats.org/drawingml/2006/main" x="457200" y="1638300"/>
          <a:ext xmlns:a="http://schemas.openxmlformats.org/drawingml/2006/main" cx="8229600" cy="2562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1609725"/>
                <a:gridCol w="3905250"/>
              </a:tblGrid>
              <a:tr h="512445">
                <a:tc>
                  <a:txBody>
                    <a:bodyPr lIns="152400" tIns="85725" rIns="114300" bIns="85725"/>
                    <a:lstStyle/>
                    <a:p>
                      <a:pPr algn="l"/>
                      <a:r>
                        <a:rPr sz="1500" b="0" i="0">
                          <a:solidFill>
                            <a:srgbClr val="FFF9EA"/>
                          </a:solidFill>
                          <a:latin typeface="Georgia"/>
                          <a:ea typeface="Georgia"/>
                          <a:cs typeface="Georgia"/>
                        </a:rPr>
                        <a:t>Этап</a:t>
                      </a:r>
                    </a:p>
                  </a:txBody>
                  <a:tcPr marL="91440" marR="91440" marT="45720" marB="45720" anchor="ctr">
                    <a:solidFill>
                      <a:srgbClr val="74765D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pPr algn="l"/>
                      <a:r>
                        <a:rPr sz="1500" b="0" i="0">
                          <a:solidFill>
                            <a:srgbClr val="FFF9EA"/>
                          </a:solidFill>
                          <a:latin typeface="Georgia"/>
                          <a:ea typeface="Georgia"/>
                          <a:cs typeface="Georgia"/>
                        </a:rPr>
                        <a:t>Срок</a:t>
                      </a:r>
                    </a:p>
                  </a:txBody>
                  <a:tcPr marL="91440" marR="91440" marT="45720" marB="45720" anchor="ctr">
                    <a:solidFill>
                      <a:srgbClr val="74765D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pPr algn="l"/>
                      <a:r>
                        <a:rPr sz="1500" b="0" i="0">
                          <a:solidFill>
                            <a:srgbClr val="FFF9EA"/>
                          </a:solidFill>
                          <a:latin typeface="Georgia"/>
                          <a:ea typeface="Georgia"/>
                          <a:cs typeface="Georgia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solidFill>
                      <a:srgbClr val="74765D"/>
                    </a:solidFill>
                  </a:tcPr>
                </a:tc>
              </a:tr>
              <a:tr h="512445">
                <a:tc>
                  <a:txBody>
                    <a:bodyPr lIns="152400" tIns="85725" rIns="114300" bIns="85725"/>
                    <a:lstStyle/>
                    <a:p>
                      <a:pPr algn="l"/>
                      <a:r>
                        <a:rPr sz="1350" b="0" i="1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>Название этапа</a:t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pPr algn="l"/>
                      <a:r>
                        <a:rPr sz="1350" b="0" i="1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>Срок</a:t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pPr algn="l"/>
                      <a:r>
                        <a:rPr sz="1350" b="0" i="1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>Ожидаемый результат</a:t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</a:tr>
              <a:tr h="512445"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</a:tr>
              <a:tr h="512445"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</a:tr>
              <a:tr h="512445"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  <a:tc>
                  <a:txBody>
                    <a:bodyPr lIns="152400" tIns="85725" rIns="114300" bIns="85725"/>
                    <a:lstStyle/>
                    <a:p>
                      <a:r>
                        <a:rPr sz="1350" b="0" i="0">
                          <a:solidFill>
                            <a:srgbClr val="7A786A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ED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317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50350f1640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64" name="Google Shape;164;p20">
            <a:extLst xmlns:a="http://schemas.openxmlformats.org/drawingml/2006/main">
              <a:ext uri="{FF2B5EF4-FFF2-40B4-BE49-F238E27FC236}">
                <a16:creationId xmlns:a16="http://schemas.microsoft.com/office/drawing/2014/main" id="{BB5B7C60-07CC-4084-AA5F-3043DDD246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5370F4AC-E6D1-01EE-6732-05F7C8E78B55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05</a:t>
            </a:fld>
            <a:endParaRPr/>
          </a:p>
        </p:txBody>
      </p:sp>
      <p:sp>
        <p:nvSpPr>
          <p:cNvPr id="165" name="Google Shape;165;p20">
            <a:extLst xmlns:a="http://schemas.openxmlformats.org/drawingml/2006/main">
              <a:ext uri="{FF2B5EF4-FFF2-40B4-BE49-F238E27FC236}">
                <a16:creationId xmlns:a16="http://schemas.microsoft.com/office/drawing/2014/main" id="{F6F330A1-BBC4-43F0-8C60-B6D061F24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Описание игры</a:t>
            </a:r>
            <a:endParaRPr sz="1700"/>
          </a:p>
        </p:txBody>
      </p:sp>
      <p:sp>
        <p:nvSpPr>
          <p:cNvPr id="166" name="Google Shape;166;p20">
            <a:extLst xmlns:a="http://schemas.openxmlformats.org/drawingml/2006/main">
              <a:ext uri="{FF2B5EF4-FFF2-40B4-BE49-F238E27FC236}">
                <a16:creationId xmlns:a16="http://schemas.microsoft.com/office/drawing/2014/main" id="{8D551F4F-752E-453C-980D-B38E5FC1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19225"/>
            <a:ext cx="2571750" cy="29622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  <a:defRPr sz="157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«Блинопёк» — уютная мобильная игра.</a:t>
            </a:r>
            <a:endParaRPr sz="13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 sz="157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Игрок вручную готовит блины по заказам гостей и на заработанные деньги развивает свою блинную.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75" name="Google Shape;16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73ff504d0469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28750"/>
            <a:ext cx="5305425" cy="29879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4D258DA-9875-475F-B813-A2A746D4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sp>
        <p:nvSpPr>
          <p:cNvPr id="170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1BB3CD40-C0C3-44C2-A4F7-DFEBFEC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00175"/>
            <a:ext cx="5362575" cy="3045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</p:spTree>
    <p:extLst>
      <p:ext uri="{BB962C8B-B14F-4D97-AF65-F5344CB8AC3E}">
        <p14:creationId xmlns:p14="http://schemas.microsoft.com/office/powerpoint/2010/main" val="1051136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1b9138d1b49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73" name="Google Shape;173;p21">
            <a:extLst xmlns:a="http://schemas.openxmlformats.org/drawingml/2006/main">
              <a:ext uri="{FF2B5EF4-FFF2-40B4-BE49-F238E27FC236}">
                <a16:creationId xmlns:a16="http://schemas.microsoft.com/office/drawing/2014/main" id="{9A9D5A56-FEFB-4556-9F2E-31E7E28C9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39BFB0FA-5DC7-50DB-D53A-0B6D0E34987E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06</a:t>
            </a:fld>
            <a:endParaRPr/>
          </a:p>
        </p:txBody>
      </p:sp>
      <p:sp>
        <p:nvSpPr>
          <p:cNvPr id="174" name="Google Shape;174;p21">
            <a:extLst xmlns:a="http://schemas.openxmlformats.org/drawingml/2006/main">
              <a:ext uri="{FF2B5EF4-FFF2-40B4-BE49-F238E27FC236}">
                <a16:creationId xmlns:a16="http://schemas.microsoft.com/office/drawing/2014/main" id="{01AD474F-D322-4D64-A8ED-FE4E4A5FE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Референсы</a:t>
            </a:r>
            <a:endParaRPr sz="1700"/>
          </a:p>
        </p:txBody>
      </p:sp>
      <p:sp>
        <p:nvSpPr>
          <p:cNvPr id="175" name="Google Shape;175;p21">
            <a:extLst xmlns:a="http://schemas.openxmlformats.org/drawingml/2006/main">
              <a:ext uri="{FF2B5EF4-FFF2-40B4-BE49-F238E27FC236}">
                <a16:creationId xmlns:a16="http://schemas.microsoft.com/office/drawing/2014/main" id="{946F0874-B7F8-43D7-92E4-40DF25B0B0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33475"/>
            <a:ext cx="3333750" cy="342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Визуал</a:t>
            </a:r>
            <a:endParaRPr sz="1600">
              <a:latin typeface="Georgia"/>
              <a:ea typeface="Georgia"/>
              <a:cs typeface="Georgia"/>
            </a:endParaRPr>
          </a:p>
        </p:txBody>
      </p:sp>
      <p:sp>
        <p:nvSpPr>
          <p:cNvPr id="176" name="Google Shape;176;p21">
            <a:extLst xmlns:a="http://schemas.openxmlformats.org/drawingml/2006/main">
              <a:ext uri="{FF2B5EF4-FFF2-40B4-BE49-F238E27FC236}">
                <a16:creationId xmlns:a16="http://schemas.microsoft.com/office/drawing/2014/main" id="{BF223A15-D858-4764-9BB6-C47802B89E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1133475"/>
            <a:ext cx="3790950" cy="342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Геймплей</a:t>
            </a:r>
            <a:endParaRPr sz="1600">
              <a:latin typeface="Georgia"/>
              <a:ea typeface="Georgia"/>
              <a:cs typeface="Georgia"/>
            </a:endParaRPr>
          </a:p>
        </p:txBody>
      </p:sp>
      <p:sp>
        <p:nvSpPr>
          <p:cNvPr id="177" name="Google Shape;177;p21">
            <a:extLst xmlns:a="http://schemas.openxmlformats.org/drawingml/2006/main">
              <a:ext uri="{FF2B5EF4-FFF2-40B4-BE49-F238E27FC236}">
                <a16:creationId xmlns:a16="http://schemas.microsoft.com/office/drawing/2014/main" id="{8063BD40-CA21-4096-8FDD-3E01615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57650"/>
            <a:ext cx="3810000" cy="406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275" b="0" i="0" u="sng">
                <a:solidFill>
                  <a:srgbClr val="626950"/>
                </a:solidFill>
                <a:latin typeface="Georgia"/>
                <a:ea typeface="Georgia"/>
                <a:cs typeface="Georgia"/>
                <a:hlinkClick xmlns:r="http://schemas.openxmlformats.org/officeDocument/2006/relationships" r:id="R9a6cc5df482b41bd"/>
              </a:rPr>
              <a:t>Good Pizza, Great Pizza в Steam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2" name="Google Shape;178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619d3066d48e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1685925"/>
            <a:ext cx="3810000" cy="2142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3" name="Google Shape;179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997a2cd574c9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85925"/>
            <a:ext cx="1819275" cy="22621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4" name="Google Shape;180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0064292984c4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00" y="1685925"/>
            <a:ext cx="1819275" cy="22621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9B847FD-D55E-447C-A0E5-0BDA990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sp>
        <p:nvSpPr>
          <p:cNvPr id="183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FD105628-62E3-4BB5-BB58-70E6BA1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57350"/>
            <a:ext cx="1876425" cy="2319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  <p:sp>
        <p:nvSpPr>
          <p:cNvPr id="184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6964117E-56D0-48C0-BC00-A692102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657350"/>
            <a:ext cx="1876425" cy="2319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  <p:sp>
        <p:nvSpPr>
          <p:cNvPr id="185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467D4B4D-CE35-4B2D-8D6E-B68CFE7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57350"/>
            <a:ext cx="3867150" cy="2199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</p:spTree>
    <p:extLst>
      <p:ext uri="{BB962C8B-B14F-4D97-AF65-F5344CB8AC3E}">
        <p14:creationId xmlns:p14="http://schemas.microsoft.com/office/powerpoint/2010/main" val="878601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7fc68215b4e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85" name="Google Shape;185;p22">
            <a:extLst xmlns:a="http://schemas.openxmlformats.org/drawingml/2006/main">
              <a:ext uri="{FF2B5EF4-FFF2-40B4-BE49-F238E27FC236}">
                <a16:creationId xmlns:a16="http://schemas.microsoft.com/office/drawing/2014/main" id="{07D5ECE6-8365-49FB-A62C-18F5A6DCFE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C1C5B3A8-B30B-D205-8921-516C108AB9AB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07</a:t>
            </a:fld>
            <a:endParaRPr/>
          </a:p>
        </p:txBody>
      </p:sp>
      <p:sp>
        <p:nvSpPr>
          <p:cNvPr id="186" name="Google Shape;186;p22">
            <a:extLst xmlns:a="http://schemas.openxmlformats.org/drawingml/2006/main">
              <a:ext uri="{FF2B5EF4-FFF2-40B4-BE49-F238E27FC236}">
                <a16:creationId xmlns:a16="http://schemas.microsoft.com/office/drawing/2014/main" id="{4617A727-BF01-4C5B-9FB0-E5C54DC8B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Описание механик</a:t>
            </a:r>
            <a:endParaRPr sz="1700"/>
          </a:p>
        </p:txBody>
      </p:sp>
      <p:sp>
        <p:nvSpPr>
          <p:cNvPr id="187" name="Google Shape;187;p22">
            <a:extLst xmlns:a="http://schemas.openxmlformats.org/drawingml/2006/main">
              <a:ext uri="{FF2B5EF4-FFF2-40B4-BE49-F238E27FC236}">
                <a16:creationId xmlns:a16="http://schemas.microsoft.com/office/drawing/2014/main" id="{20597816-888A-4771-A582-BFDB815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43000"/>
            <a:ext cx="2781300" cy="3238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Основной цикл</a:t>
            </a:r>
            <a:endParaRPr sz="2000" b="1">
              <a:solidFill>
                <a:srgbClr val="000000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208" name="Google Shape;188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ec648d6dc4ac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76375"/>
            <a:ext cx="5067300" cy="28517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882DBB8-87BC-461D-AF70-A842410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sp>
        <p:nvSpPr>
          <p:cNvPr id="191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41E88DEB-20B5-4487-BFEE-D6C5388F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5124450" cy="2908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  <p:sp>
        <p:nvSpPr>
          <p:cNvPr id="192" name="Номер действия 1">
            <a:extLst xmlns:a="http://schemas.openxmlformats.org/drawingml/2006/main">
              <a:ext uri="{FF2B5EF4-FFF2-40B4-BE49-F238E27FC236}">
                <a16:creationId xmlns:a16="http://schemas.microsoft.com/office/drawing/2014/main" id="{012CF4A6-79E4-4FE5-AD52-BDB4ACFA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47825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3" name="Действие 1">
            <a:extLst xmlns:a="http://schemas.openxmlformats.org/drawingml/2006/main">
              <a:ext uri="{FF2B5EF4-FFF2-40B4-BE49-F238E27FC236}">
                <a16:creationId xmlns:a16="http://schemas.microsoft.com/office/drawing/2014/main" id="{0C487D18-6083-43CC-A930-112754F4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383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Принять заказ</a:t>
            </a:r>
          </a:p>
        </p:txBody>
      </p:sp>
      <p:sp>
        <p:nvSpPr>
          <p:cNvPr id="194" name="Номер действия 2">
            <a:extLst xmlns:a="http://schemas.openxmlformats.org/drawingml/2006/main">
              <a:ext uri="{FF2B5EF4-FFF2-40B4-BE49-F238E27FC236}">
                <a16:creationId xmlns:a16="http://schemas.microsoft.com/office/drawing/2014/main" id="{79534F82-3FFB-45F7-A1F3-481B05A8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5" name="Действие 2">
            <a:extLst xmlns:a="http://schemas.openxmlformats.org/drawingml/2006/main">
              <a:ext uri="{FF2B5EF4-FFF2-40B4-BE49-F238E27FC236}">
                <a16:creationId xmlns:a16="http://schemas.microsoft.com/office/drawing/2014/main" id="{DB304560-3BEA-4381-AC7D-B75016F5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Разлить тесто</a:t>
            </a:r>
          </a:p>
        </p:txBody>
      </p:sp>
      <p:sp>
        <p:nvSpPr>
          <p:cNvPr id="196" name="Номер действия 3">
            <a:extLst xmlns:a="http://schemas.openxmlformats.org/drawingml/2006/main">
              <a:ext uri="{FF2B5EF4-FFF2-40B4-BE49-F238E27FC236}">
                <a16:creationId xmlns:a16="http://schemas.microsoft.com/office/drawing/2014/main" id="{8FA35351-E39E-4375-A80B-3261066D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66975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7" name="Действие 3">
            <a:extLst xmlns:a="http://schemas.openxmlformats.org/drawingml/2006/main">
              <a:ext uri="{FF2B5EF4-FFF2-40B4-BE49-F238E27FC236}">
                <a16:creationId xmlns:a16="http://schemas.microsoft.com/office/drawing/2014/main" id="{F0C72EBF-EB05-43FD-8968-0EBD599B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Обжарить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и перевернуть</a:t>
            </a:r>
          </a:p>
        </p:txBody>
      </p:sp>
      <p:sp>
        <p:nvSpPr>
          <p:cNvPr id="198" name="Номер действия 4">
            <a:extLst xmlns:a="http://schemas.openxmlformats.org/drawingml/2006/main">
              <a:ext uri="{FF2B5EF4-FFF2-40B4-BE49-F238E27FC236}">
                <a16:creationId xmlns:a16="http://schemas.microsoft.com/office/drawing/2014/main" id="{5AFF9A55-2FD6-42AC-833D-2F897E72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9" name="Действие 4">
            <a:extLst xmlns:a="http://schemas.openxmlformats.org/drawingml/2006/main">
              <a:ext uri="{FF2B5EF4-FFF2-40B4-BE49-F238E27FC236}">
                <a16:creationId xmlns:a16="http://schemas.microsoft.com/office/drawing/2014/main" id="{346F8CF8-79C6-49ED-A7EA-0A090F56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Добавить начинку</a:t>
            </a:r>
          </a:p>
        </p:txBody>
      </p:sp>
      <p:sp>
        <p:nvSpPr>
          <p:cNvPr id="200" name="Номер действия 5">
            <a:extLst xmlns:a="http://schemas.openxmlformats.org/drawingml/2006/main">
              <a:ext uri="{FF2B5EF4-FFF2-40B4-BE49-F238E27FC236}">
                <a16:creationId xmlns:a16="http://schemas.microsoft.com/office/drawing/2014/main" id="{E5155EF1-D85D-4F1E-AFC9-AFCB841B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57575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01" name="Действие 5">
            <a:extLst xmlns:a="http://schemas.openxmlformats.org/drawingml/2006/main">
              <a:ext uri="{FF2B5EF4-FFF2-40B4-BE49-F238E27FC236}">
                <a16:creationId xmlns:a16="http://schemas.microsoft.com/office/drawing/2014/main" id="{5DF0B5A0-23C0-4488-811B-4366AF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Сложить блин</a:t>
            </a:r>
          </a:p>
        </p:txBody>
      </p:sp>
      <p:sp>
        <p:nvSpPr>
          <p:cNvPr id="202" name="Номер действия 6">
            <a:extLst xmlns:a="http://schemas.openxmlformats.org/drawingml/2006/main">
              <a:ext uri="{FF2B5EF4-FFF2-40B4-BE49-F238E27FC236}">
                <a16:creationId xmlns:a16="http://schemas.microsoft.com/office/drawing/2014/main" id="{654B8285-D205-414B-8B9B-C0CD1DF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03" name="Действие 6">
            <a:extLst xmlns:a="http://schemas.openxmlformats.org/drawingml/2006/main">
              <a:ext uri="{FF2B5EF4-FFF2-40B4-BE49-F238E27FC236}">
                <a16:creationId xmlns:a16="http://schemas.microsoft.com/office/drawing/2014/main" id="{E3D770D2-1FBC-45D5-B257-4C60EB8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Отдать заказ</a:t>
            </a:r>
          </a:p>
        </p:txBody>
      </p:sp>
    </p:spTree>
    <p:extLst>
      <p:ext uri="{BB962C8B-B14F-4D97-AF65-F5344CB8AC3E}">
        <p14:creationId xmlns:p14="http://schemas.microsoft.com/office/powerpoint/2010/main" val="185245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40f91d9674d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93" name="Google Shape;193;p23">
            <a:extLst xmlns:a="http://schemas.openxmlformats.org/drawingml/2006/main">
              <a:ext uri="{FF2B5EF4-FFF2-40B4-BE49-F238E27FC236}">
                <a16:creationId xmlns:a16="http://schemas.microsoft.com/office/drawing/2014/main" id="{8D1AC049-F63B-4967-8F5B-EF86FDC321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22E54B70-3376-18BE-56BD-5BB8BA701776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08</a:t>
            </a:fld>
            <a:endParaRPr/>
          </a:p>
        </p:txBody>
      </p:sp>
      <p:sp>
        <p:nvSpPr>
          <p:cNvPr id="194" name="Google Shape;194;p23">
            <a:extLst xmlns:a="http://schemas.openxmlformats.org/drawingml/2006/main">
              <a:ext uri="{FF2B5EF4-FFF2-40B4-BE49-F238E27FC236}">
                <a16:creationId xmlns:a16="http://schemas.microsoft.com/office/drawing/2014/main" id="{772F2C2B-2591-4FA8-BF52-E8956B1DA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143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Метапрогрессия и донат</a:t>
            </a:r>
            <a:endParaRPr sz="1700"/>
          </a:p>
        </p:txBody>
      </p:sp>
      <p:sp>
        <p:nvSpPr>
          <p:cNvPr id="195" name="Google Shape;195;p23">
            <a:extLst xmlns:a="http://schemas.openxmlformats.org/drawingml/2006/main">
              <a:ext uri="{FF2B5EF4-FFF2-40B4-BE49-F238E27FC236}">
                <a16:creationId xmlns:a16="http://schemas.microsoft.com/office/drawing/2014/main" id="{09734CC1-2158-4DA2-B07F-25D885BE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200150"/>
            <a:ext cx="2771775" cy="30956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None/>
              <a:defRPr sz="1388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88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Игрок зарабатывает на заказах и вкладывает прибыль в развитие блинной.</a:t>
            </a:r>
            <a:endParaRPr sz="1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None/>
              <a:defRPr sz="1388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88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Открывает начинки и рецепты, улучшает оборудование, покупает помощников и украшает заведение.</a:t>
            </a:r>
            <a:endParaRPr sz="2000" b="1">
              <a:latin typeface="Georgia"/>
              <a:ea typeface="Georgia"/>
              <a:cs typeface="Georgia"/>
            </a:endParaRPr>
          </a:p>
          <a:p xmlns:a="http://schemas.openxmlformats.org/drawingml/2006/main"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88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1388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Новые гости и более сложные заказы приносят больше дохода.</a:t>
            </a:r>
            <a:endParaRPr sz="2000" b="1">
              <a:latin typeface="Georgia"/>
              <a:ea typeface="Georgia"/>
              <a:cs typeface="Georgia"/>
            </a:endParaRPr>
          </a:p>
        </p:txBody>
      </p:sp>
      <p:pic>
        <p:nvPicPr>
          <p:cNvPr id="204" name="Google Shape;196;p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02654adc417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62100"/>
            <a:ext cx="5019675" cy="28251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A4DD0FF-9B71-4508-A029-46090A2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AC98"/>
            </a:solidFill>
            <a:prstDash val="solid"/>
          </a:ln>
        </p:spPr>
      </p:sp>
      <p:sp>
        <p:nvSpPr>
          <p:cNvPr id="199" name="Рамка иллюстрации">
            <a:extLst xmlns:a="http://schemas.openxmlformats.org/drawingml/2006/main">
              <a:ext uri="{FF2B5EF4-FFF2-40B4-BE49-F238E27FC236}">
                <a16:creationId xmlns:a16="http://schemas.microsoft.com/office/drawing/2014/main" id="{5C112491-8E79-4FCB-8F55-9FBCF3C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33525"/>
            <a:ext cx="5076825" cy="288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E75"/>
            </a:solidFill>
          </a:ln>
        </p:spPr>
      </p:sp>
    </p:spTree>
    <p:extLst>
      <p:ext uri="{BB962C8B-B14F-4D97-AF65-F5344CB8AC3E}">
        <p14:creationId xmlns:p14="http://schemas.microsoft.com/office/powerpoint/2010/main" val="1981812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A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ac244892f43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01" name="Google Shape;201;p24">
            <a:extLst xmlns:a="http://schemas.openxmlformats.org/drawingml/2006/main">
              <a:ext uri="{FF2B5EF4-FFF2-40B4-BE49-F238E27FC236}">
                <a16:creationId xmlns:a16="http://schemas.microsoft.com/office/drawing/2014/main" id="{511BBBCE-5222-47D5-BBCB-96AAE6405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164782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75" b="0" i="0">
                <a:solidFill>
                  <a:srgbClr val="393D32"/>
                </a:solidFill>
                <a:latin typeface="Georgia"/>
                <a:ea typeface="Georgia"/>
                <a:cs typeface="Georgia"/>
              </a:defRPr>
            </a:pPr>
            <a:r>
              <a:rPr sz="4875" b="0" i="0">
                <a:solidFill>
                  <a:srgbClr val="393D32"/>
                </a:solidFill>
                <a:latin typeface="Georgia"/>
                <a:ea typeface="Georgia"/>
                <a:cs typeface="Georgia"/>
              </a:rPr>
              <a:t>Спасибо!</a:t>
            </a:r>
            <a:endParaRPr sz="4800"/>
          </a:p>
        </p:txBody>
      </p:sp>
      <p:sp>
        <p:nvSpPr>
          <p:cNvPr id="202" name="Google Shape;202;p24">
            <a:extLst xmlns:a="http://schemas.openxmlformats.org/drawingml/2006/main">
              <a:ext uri="{FF2B5EF4-FFF2-40B4-BE49-F238E27FC236}">
                <a16:creationId xmlns:a16="http://schemas.microsoft.com/office/drawing/2014/main" id="{ABA415B1-8ACD-4FFA-AB5E-4E70D4AFB6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6275" y="44100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fld id="{44235D47-801C-AA1F-E2A0-5E98061CBF6D}" type="slidenum">
              <a:rPr sz="1125" b="0" i="0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09</a:t>
            </a:fld>
            <a:endParaRPr/>
          </a:p>
        </p:txBody>
      </p:sp>
      <p:sp>
        <p:nvSpPr>
          <p:cNvPr id="204" name="Заключение">
            <a:extLst xmlns:a="http://schemas.openxmlformats.org/drawingml/2006/main">
              <a:ext uri="{FF2B5EF4-FFF2-40B4-BE49-F238E27FC236}">
                <a16:creationId xmlns:a16="http://schemas.microsoft.com/office/drawing/2014/main" id="{5CAD1C4B-9AE2-4BF1-9027-5EBA199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 b="0" i="1">
                <a:solidFill>
                  <a:srgbClr val="626950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626950"/>
                </a:solidFill>
                <a:latin typeface="Georgia"/>
                <a:ea typeface="Georgia"/>
                <a:cs typeface="Georgia"/>
              </a:rPr>
              <a:t>За внимание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CE6338A-1655-428F-957D-53EBC67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620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960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2164233"/>
      </p:ext>
    </p:extLst>
  </p:cSld>
</p:sld>
</file>

<file path=ppt/theme/theme1.xml><?xml version="1.0" encoding="utf-8"?>
<a:theme xmlns:a="http://schemas.openxmlformats.org/drawingml/2006/main" name="ШРВ MS Office шаблон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Arial"/>
        <a:ea typeface=""/>
        <a:cs typeface="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2026-10-07T21:14:44.3690000Z</dcterms:created>
  <dcterms:modified xsi:type="dcterms:W3CDTF">2026-10-07T21:14:44.3690000Z</dcterms:modified>
</coreProperties>
</file>